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275159"/>
            <a:ext cx="1143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348508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2567583"/>
            <a:ext cx="2590800" cy="1441996"/>
          </a:xfrm>
          <a:prstGeom prst="roundRect">
            <a:avLst>
              <a:gd name="adj" fmla="val 101459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76600" y="2567583"/>
            <a:ext cx="2590800" cy="1441996"/>
          </a:xfrm>
          <a:prstGeom prst="roundRect">
            <a:avLst>
              <a:gd name="adj" fmla="val 101459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38850" y="2567583"/>
            <a:ext cx="2590800" cy="1441996"/>
          </a:xfrm>
          <a:prstGeom prst="roundRect">
            <a:avLst>
              <a:gd name="adj" fmla="val 101459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400050"/>
            <a:ext cx="82776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Consulting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638175"/>
            <a:ext cx="8277606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incidents in financial services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514350" y="1675209"/>
            <a:ext cx="8115300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executiva do pipeline de incidentes de IA com foco em risco operacional, viés algorítmico, governança, API própria e arquitetura analítica ponta a ponta.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695325" y="2748558"/>
            <a:ext cx="22734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95325" y="2958108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incidentes financeiros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695325" y="3247579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tratada adotada como fonte principal para estatística e modelagem.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57575" y="2748558"/>
            <a:ext cx="22734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Horizonte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57575" y="2958108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2003–2023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3457575" y="3247579"/>
            <a:ext cx="2228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Janela temporal usada para leitura descritiva e hipótese de tendência.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19825" y="2748558"/>
            <a:ext cx="22734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Entregável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219825" y="2958108"/>
            <a:ext cx="22288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+ ML + API + dashboard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6219825" y="3441799"/>
            <a:ext cx="2228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vai além do notebook e materializa serviço reutilizável.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4350" y="4810125"/>
            <a:ext cx="17585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Incidents — Consulting Deck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582025" y="4810125"/>
            <a:ext cx="48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299121"/>
            <a:ext cx="8115300" cy="1334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2843659"/>
            <a:ext cx="2590800" cy="1432471"/>
          </a:xfrm>
          <a:prstGeom prst="roundRect">
            <a:avLst>
              <a:gd name="adj" fmla="val 102134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76600" y="2843659"/>
            <a:ext cx="2590800" cy="1432471"/>
          </a:xfrm>
          <a:prstGeom prst="roundRect">
            <a:avLst>
              <a:gd name="adj" fmla="val 102134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38850" y="2843659"/>
            <a:ext cx="2590800" cy="1432471"/>
          </a:xfrm>
          <a:prstGeom prst="roundRect">
            <a:avLst>
              <a:gd name="adj" fmla="val 102134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400050"/>
            <a:ext cx="2463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600075"/>
            <a:ext cx="246394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Mensagem central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8486775" y="400050"/>
            <a:ext cx="1457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0100" y="1527721"/>
            <a:ext cx="7600950" cy="877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sz="1800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projeto entrega uma arquitetura analítica coerente e defensável para governança de IA em finanças, mas a modelagem preditiva ainda não tem robustez suficiente para uso decisório operacional.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5325" y="3024634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Valor real do trabalho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695325" y="3314105"/>
            <a:ext cx="2228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 uma base pública imperfeita em pipeline integrado com CRISP-DM, banco relacional, API e dashboard.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57575" y="3024634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Achado relevante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3457575" y="3314105"/>
            <a:ext cx="2228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dados sustentam exploração estruturada de risco, concentração por aplicação e discussão de governança.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19825" y="3024634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Principal ressalva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6219825" y="3314105"/>
            <a:ext cx="2228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dataset é pequeno e extremamente desbalanceado, limitando inferência forte e desempenho de ML.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14350" y="4810125"/>
            <a:ext cx="1107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62975" y="4810125"/>
            <a:ext cx="680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299121"/>
            <a:ext cx="4523780" cy="2575471"/>
          </a:xfrm>
          <a:prstGeom prst="roundRect">
            <a:avLst>
              <a:gd name="adj" fmla="val 56807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85780" y="1299121"/>
            <a:ext cx="3343870" cy="2575471"/>
          </a:xfrm>
          <a:prstGeom prst="roundRect">
            <a:avLst>
              <a:gd name="adj" fmla="val 56807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400050"/>
            <a:ext cx="41778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600075"/>
            <a:ext cx="417781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Que problema o projeto resolve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477250" y="400050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5325" y="1480096"/>
            <a:ext cx="424506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de negócio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95325" y="1769566"/>
            <a:ext cx="416183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transformar relatos públicos e heterogêneos sobre falhas de IA em serviços financeiros em um sistema analítico capaz de apoiar leitura de risco, governança e compliance?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5325" y="2483941"/>
            <a:ext cx="416183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padrões por aplicação, como crédito, fraude e trading.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Observar assimetrias por segmento de cliente.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Relacionar severidade com resposta regulatória.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 os resultados em camada de serviço reutilizável.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66755" y="1480096"/>
            <a:ext cx="304155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isso importa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5466755" y="1769566"/>
            <a:ext cx="298192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Bancos e fintechs precisam priorizar controles onde o risco é maior.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precisa de critérios mais claros para auditoria e escalonamento.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Reguladores podem usar incidentes como evidência complementar de supervisão.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 técnicos precisam ligar dado, modelo e deployment na mesma narrativa.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4350" y="4810125"/>
            <a:ext cx="10298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62975" y="4810125"/>
            <a:ext cx="680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299121"/>
          <a:ext cx="8115300" cy="3200400"/>
        </p:xfrm>
        <a:graphic>
          <a:graphicData uri="http://schemas.openxmlformats.org/drawingml/2006/table">
            <a:tbl>
              <a:tblPr/>
              <a:tblGrid>
                <a:gridCol w="2028825"/>
                <a:gridCol w="2028825"/>
                <a:gridCol w="2028825"/>
                <a:gridCol w="2028825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Objetivo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Implementação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Saída principal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 Understanding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Definir problema, escopo e hipóteses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README e relatório executivo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Perguntas H1–H4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Understanding / Preparation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Filtrar e enriquecer a base AIID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Notebook 1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CSV tratado + SQLite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Evaluation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Testar hipóteses e descrever padrões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Notebook 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Estatística e leitura inferencial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Construir classificadores de severidade e investigação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Notebook 3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Artefatos .pkl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Deployment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Servir dados e predições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Notebook 4 + Flask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RESTful + dashboard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14350" y="400050"/>
            <a:ext cx="43147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14350" y="600075"/>
            <a:ext cx="4314745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Como o trabalho foi estruturado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8477250" y="400050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14350" y="4810125"/>
            <a:ext cx="10784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CRISP-DM framing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53450" y="4810125"/>
            <a:ext cx="777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299121"/>
            <a:ext cx="1914525" cy="1952625"/>
          </a:xfrm>
          <a:prstGeom prst="roundRect">
            <a:avLst>
              <a:gd name="adj" fmla="val 76418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81275" y="1299121"/>
            <a:ext cx="1914525" cy="1952625"/>
          </a:xfrm>
          <a:prstGeom prst="roundRect">
            <a:avLst>
              <a:gd name="adj" fmla="val 76418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8200" y="1299121"/>
            <a:ext cx="1914525" cy="1952625"/>
          </a:xfrm>
          <a:prstGeom prst="roundRect">
            <a:avLst>
              <a:gd name="adj" fmla="val 76418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5125" y="1299121"/>
            <a:ext cx="1914525" cy="1952625"/>
          </a:xfrm>
          <a:prstGeom prst="roundRect">
            <a:avLst>
              <a:gd name="adj" fmla="val 76418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3442246"/>
            <a:ext cx="4523780" cy="1632496"/>
          </a:xfrm>
          <a:prstGeom prst="roundRect">
            <a:avLst>
              <a:gd name="adj" fmla="val 8962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85780" y="3442246"/>
            <a:ext cx="3343870" cy="1632496"/>
          </a:xfrm>
          <a:prstGeom prst="roundRect">
            <a:avLst>
              <a:gd name="adj" fmla="val 8962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400050"/>
            <a:ext cx="45216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scope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4350" y="600075"/>
            <a:ext cx="4521654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Base, recorte e unidade de análise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486775" y="400050"/>
            <a:ext cx="1457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5325" y="1480096"/>
            <a:ext cx="15836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95325" y="1918246"/>
            <a:ext cx="1583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95325" y="2127796"/>
            <a:ext cx="15525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Subconjunto financeiro usado como base principal de análise.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62250" y="1480096"/>
            <a:ext cx="15525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2003–2023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2762250" y="2280196"/>
            <a:ext cx="1583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Período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762250" y="2489746"/>
            <a:ext cx="15525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Série usada na leitura temporal e na hipótese H4.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9175" y="1480096"/>
            <a:ext cx="15836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4829175" y="1918246"/>
            <a:ext cx="1583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 derivadas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29175" y="2127796"/>
            <a:ext cx="15525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Aplicação, incidente, segmento, severidade e flags de governança.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96100" y="1480096"/>
            <a:ext cx="15836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6896100" y="1918246"/>
            <a:ext cx="1583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896100" y="2127796"/>
            <a:ext cx="1552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de serviço para consulta e predição.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5325" y="3623221"/>
            <a:ext cx="424506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695325" y="3912691"/>
            <a:ext cx="416183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parte do AI Incident Database, com coleta via API GraphQL oficial e fallback para snapshots estruturados, preservando rastreabilidade e reprodutibilidade.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66755" y="3623221"/>
            <a:ext cx="304155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Recorte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5466755" y="3912691"/>
            <a:ext cx="298192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subconjunto financeiro é formado por filtragem temática baseada em palavras-chave e contexto textual, cobrindo crédito, fraude, trading, pagamentos, seguros e atendimento financeiro.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4350" y="4810125"/>
            <a:ext cx="641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scope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62975" y="4810125"/>
            <a:ext cx="680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299121"/>
          <a:ext cx="8115300" cy="2476500"/>
        </p:xfrm>
        <a:graphic>
          <a:graphicData uri="http://schemas.openxmlformats.org/drawingml/2006/table">
            <a:tbl>
              <a:tblPr/>
              <a:tblGrid>
                <a:gridCol w="2028825"/>
                <a:gridCol w="2028825"/>
                <a:gridCol w="2028825"/>
                <a:gridCol w="2028825"/>
              </a:tblGrid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Hipótese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Pergunta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Método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Uso gerencial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H1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Incidentes se concentram em certas aplicações?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Qui-quadrado de aderência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Priorizar controles por domínio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Viés afeta segmentos de forma desigual?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Qui-quadrado de independência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Auditar fairness e proteção de clientes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H3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Alta severidade eleva resposta regulatória?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Qui-quadrado + regressão logística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Escalonamento de compliance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H4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Há tendência temporal de incidentes?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Spearman + OLS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Planejamento de governança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14350" y="400050"/>
            <a:ext cx="39349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design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14350" y="600075"/>
            <a:ext cx="393492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Hipóteses e racional analítico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8477250" y="400050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14350" y="4810125"/>
            <a:ext cx="680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62975" y="4810125"/>
            <a:ext cx="680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299121"/>
            <a:ext cx="1914525" cy="1584871"/>
          </a:xfrm>
          <a:prstGeom prst="roundRect">
            <a:avLst>
              <a:gd name="adj" fmla="val 92313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5325" y="1480096"/>
            <a:ext cx="523875" cy="257175"/>
          </a:xfrm>
          <a:prstGeom prst="roundRect">
            <a:avLst>
              <a:gd name="adj" fmla="val 35520000"/>
            </a:avLst>
          </a:prstGeom>
          <a:solidFill>
            <a:srgbClr val="E9EEF5"/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81275" y="1299121"/>
            <a:ext cx="1914525" cy="1584871"/>
          </a:xfrm>
          <a:prstGeom prst="roundRect">
            <a:avLst>
              <a:gd name="adj" fmla="val 92313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62250" y="1480096"/>
            <a:ext cx="552450" cy="257175"/>
          </a:xfrm>
          <a:prstGeom prst="roundRect">
            <a:avLst>
              <a:gd name="adj" fmla="val 35520000"/>
            </a:avLst>
          </a:prstGeom>
          <a:solidFill>
            <a:srgbClr val="E9EEF5"/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48200" y="1299121"/>
            <a:ext cx="1914525" cy="1584871"/>
          </a:xfrm>
          <a:prstGeom prst="roundRect">
            <a:avLst>
              <a:gd name="adj" fmla="val 92313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29175" y="1480096"/>
            <a:ext cx="552450" cy="257175"/>
          </a:xfrm>
          <a:prstGeom prst="roundRect">
            <a:avLst>
              <a:gd name="adj" fmla="val 35520000"/>
            </a:avLst>
          </a:prstGeom>
          <a:solidFill>
            <a:srgbClr val="E9EEF5"/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15125" y="1299121"/>
            <a:ext cx="1914525" cy="1584871"/>
          </a:xfrm>
          <a:prstGeom prst="roundRect">
            <a:avLst>
              <a:gd name="adj" fmla="val 92313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96100" y="1480096"/>
            <a:ext cx="552450" cy="257175"/>
          </a:xfrm>
          <a:prstGeom prst="roundRect">
            <a:avLst>
              <a:gd name="adj" fmla="val 35520000"/>
            </a:avLst>
          </a:prstGeom>
          <a:solidFill>
            <a:srgbClr val="E9EEF5"/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3074491"/>
            <a:ext cx="8115300" cy="116577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4350" y="400050"/>
            <a:ext cx="67639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4350" y="600075"/>
            <a:ext cx="676396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fluxo ponta a ponta é a principal força do projeto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8486775" y="400050"/>
            <a:ext cx="1457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5325" y="1832521"/>
            <a:ext cx="158362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Aquisição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695325" y="2121991"/>
            <a:ext cx="15836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AIID via API e fallbacks.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762250" y="1832521"/>
            <a:ext cx="158362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Tratamento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2762250" y="2121991"/>
            <a:ext cx="1552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 financeiro, limpeza, feature engineering.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29175" y="1832521"/>
            <a:ext cx="158362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e ML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4829175" y="2121991"/>
            <a:ext cx="15525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Hipóteses H1–H4 e modelos supervisionados.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896100" y="1832521"/>
            <a:ext cx="158362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6896100" y="2121991"/>
            <a:ext cx="15525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+ Flask + consumo por dashboard.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00100" y="3303091"/>
            <a:ext cx="7600950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consulting:</a:t>
            </a:r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diferencial competitivo do trabalho não está em uma métrica isolada, mas em mostrar a transição completa entre dado bruto, estrutura analítica, modelo, persistência e exposição via API.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4350" y="4810125"/>
            <a:ext cx="767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story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562975" y="4810125"/>
            <a:ext cx="680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299121"/>
            <a:ext cx="4523780" cy="1918246"/>
          </a:xfrm>
          <a:prstGeom prst="roundRect">
            <a:avLst>
              <a:gd name="adj" fmla="val 7627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85780" y="1299121"/>
            <a:ext cx="3343870" cy="1918246"/>
          </a:xfrm>
          <a:prstGeom prst="roundRect">
            <a:avLst>
              <a:gd name="adj" fmla="val 7627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400050"/>
            <a:ext cx="61849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600075"/>
            <a:ext cx="618497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Como texto narrativo vira estrutura analisável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477250" y="400050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5325" y="1480096"/>
            <a:ext cx="424506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 derivadas centrais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95325" y="1769566"/>
            <a:ext cx="416183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05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applicationtype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classifica o uso financeiro de IA.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05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incidenttype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identifica a natureza do dano.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05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customersegment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indica o grupo afetado.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05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severitylevel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traduz a gravidade em escala ordinal.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05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 regulatórias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investigation, fine, policy change, audit.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66755" y="1480096"/>
            <a:ext cx="304155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crítica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5466755" y="1769566"/>
            <a:ext cx="298192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enriquecimento é heurístico e interpretável, baseado em palavras-chave e regras textuais, não em NLP avançado. Isso favorece rastreabilidade, mas também reduz profundidade semântica e aumenta dependência da qualidade do texto original.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4350" y="4810125"/>
            <a:ext cx="11269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62975" y="4810125"/>
            <a:ext cx="680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299121"/>
            <a:ext cx="4523780" cy="2003971"/>
          </a:xfrm>
          <a:prstGeom prst="roundRect">
            <a:avLst>
              <a:gd name="adj" fmla="val 73007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85780" y="1299121"/>
            <a:ext cx="3343870" cy="2003971"/>
          </a:xfrm>
          <a:prstGeom prst="roundRect">
            <a:avLst>
              <a:gd name="adj" fmla="val 73007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400050"/>
            <a:ext cx="66309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600075"/>
            <a:ext cx="663098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que os dados permitem afirmar com segurança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477250" y="400050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5325" y="1480096"/>
            <a:ext cx="424506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Conclusões sustentáveis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95325" y="1769566"/>
            <a:ext cx="416183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Há base suficiente para discutir concentração de incidentes por tipo de aplicação.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Há sinal analítico para examinar assimetria entre segmentos de clientes.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Há evidência suficiente para justificar arquitetura de governança baseada em incidentes.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66755" y="1480096"/>
            <a:ext cx="304155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Conclusões que exigem cautela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5466755" y="1769566"/>
            <a:ext cx="298192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regulatória é pouco observável no recorte e tem baixa potência estatística.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Tendência temporal existe como hipótese, mas a série é curta e pequena.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preditiva não deve ser vendida como solução pronta.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4350" y="4810125"/>
            <a:ext cx="7189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62975" y="4810125"/>
            <a:ext cx="680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299121"/>
            <a:ext cx="1914525" cy="1590675"/>
          </a:xfrm>
          <a:prstGeom prst="roundRect">
            <a:avLst>
              <a:gd name="adj" fmla="val 91976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81275" y="1299121"/>
            <a:ext cx="1914525" cy="1590675"/>
          </a:xfrm>
          <a:prstGeom prst="roundRect">
            <a:avLst>
              <a:gd name="adj" fmla="val 91976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8200" y="1299121"/>
            <a:ext cx="1914525" cy="1590675"/>
          </a:xfrm>
          <a:prstGeom prst="roundRect">
            <a:avLst>
              <a:gd name="adj" fmla="val 91976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5125" y="1299121"/>
            <a:ext cx="1914525" cy="1590675"/>
          </a:xfrm>
          <a:prstGeom prst="roundRect">
            <a:avLst>
              <a:gd name="adj" fmla="val 91976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3080296"/>
          <a:ext cx="8115300" cy="1657350"/>
        </p:xfrm>
        <a:graphic>
          <a:graphicData uri="http://schemas.openxmlformats.org/drawingml/2006/table">
            <a:tbl>
              <a:tblPr/>
              <a:tblGrid>
                <a:gridCol w="1623060"/>
                <a:gridCol w="1623060"/>
                <a:gridCol w="1623060"/>
                <a:gridCol w="1623060"/>
                <a:gridCol w="1623060"/>
              </a:tblGrid>
              <a:tr h="5524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Tarefa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Melhor modelo reportado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F1-score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ROC-AUC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Leitura executiva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Classificação de severidade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XGBoost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0.0000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0.0833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Inviável para uso decisório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Predição de investigação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XGBoost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0.0000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Sem robustez estatística mínima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14350" y="400050"/>
            <a:ext cx="5723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reality check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4350" y="600075"/>
            <a:ext cx="572349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modelagem é o ponto mais frágil do deck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8505825" y="400050"/>
            <a:ext cx="1263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95325" y="1480096"/>
            <a:ext cx="15836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695325" y="1918246"/>
            <a:ext cx="1583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severity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695325" y="2127796"/>
            <a:ext cx="1552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 dominante na severidade multiclasses.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762250" y="1480096"/>
            <a:ext cx="15836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2762250" y="1918246"/>
            <a:ext cx="1583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2762250" y="2127796"/>
            <a:ext cx="1552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Poucos casos em severidade alta.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9175" y="1480096"/>
            <a:ext cx="15836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850" dirty="0"/>
          </a:p>
        </p:txBody>
      </p:sp>
      <p:sp>
        <p:nvSpPr>
          <p:cNvPr id="18" name="Text 15"/>
          <p:cNvSpPr/>
          <p:nvPr/>
        </p:nvSpPr>
        <p:spPr>
          <a:xfrm>
            <a:off x="4829175" y="1918246"/>
            <a:ext cx="1583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29175" y="2127796"/>
            <a:ext cx="1552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Quase ausência de classe extrema.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96100" y="1480096"/>
            <a:ext cx="15836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850" dirty="0"/>
          </a:p>
        </p:txBody>
      </p:sp>
      <p:sp>
        <p:nvSpPr>
          <p:cNvPr id="21" name="Text 18"/>
          <p:cNvSpPr/>
          <p:nvPr/>
        </p:nvSpPr>
        <p:spPr>
          <a:xfrm>
            <a:off x="6896100" y="1918246"/>
            <a:ext cx="1583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825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 = 1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896100" y="2127796"/>
            <a:ext cx="15525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Desbalanceamento extremo da variável regulatória.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14350" y="4810125"/>
            <a:ext cx="9229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reality check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05825" y="4810125"/>
            <a:ext cx="1263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299121"/>
            <a:ext cx="8115300" cy="1165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2655391"/>
            <a:ext cx="2590800" cy="1232446"/>
          </a:xfrm>
          <a:prstGeom prst="roundRect">
            <a:avLst>
              <a:gd name="adj" fmla="val 11871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76600" y="2655391"/>
            <a:ext cx="2590800" cy="1232446"/>
          </a:xfrm>
          <a:prstGeom prst="roundRect">
            <a:avLst>
              <a:gd name="adj" fmla="val 11871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38850" y="2655391"/>
            <a:ext cx="2590800" cy="1232446"/>
          </a:xfrm>
          <a:prstGeom prst="roundRect">
            <a:avLst>
              <a:gd name="adj" fmla="val 11871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400050"/>
            <a:ext cx="57711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600075"/>
            <a:ext cx="577115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Como posicionar o ML de forma defensável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8534400" y="400050"/>
            <a:ext cx="97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0100" y="1527721"/>
            <a:ext cx="7600950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Formulação recomendada para banca ou cliente:</a:t>
            </a:r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os componentes de machine learning funcionam como prova de conceito metodológica da fase de Modeling, demonstrando pipeline, serialização e integração com API, mas não entregam ainda um classificador confiável para produção.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5325" y="2836366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já existe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695325" y="3125837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técnico correto, artefatos salvos, integração treino-produção e endpoints de inferência.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57575" y="2836366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falta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3457575" y="3125837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Massa crítica de dados, classes menos raras, mais features e validação mais robusta.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19825" y="2836366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Implicação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6219825" y="3125837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 ML como demonstração de maturidade arquitetural, não como motor de decisão final.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14350" y="4810125"/>
            <a:ext cx="13310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framing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34400" y="4810125"/>
            <a:ext cx="97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299121"/>
            <a:ext cx="4523780" cy="1832521"/>
          </a:xfrm>
          <a:prstGeom prst="roundRect">
            <a:avLst>
              <a:gd name="adj" fmla="val 79838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85780" y="1299121"/>
            <a:ext cx="3343870" cy="1832521"/>
          </a:xfrm>
          <a:prstGeom prst="roundRect">
            <a:avLst>
              <a:gd name="adj" fmla="val 79838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400050"/>
            <a:ext cx="57963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600075"/>
            <a:ext cx="579635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API é o elo entre analytics e aplicação real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515350" y="400050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5325" y="1480096"/>
            <a:ext cx="424506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 API expõe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95325" y="1769566"/>
            <a:ext cx="416183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estruturada de incidentes.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Estatísticas agregadas por aplicação, segmento e tempo.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Predição de severidade e de investigação regulatória.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para dashboard e consumo externo.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66755" y="1480096"/>
            <a:ext cx="304155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isso importa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5466755" y="1769566"/>
            <a:ext cx="298192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não termina no notebook. Ele materializa uma camada de serviço que aproxima Data Science, engenharia de software e MLOps, o que aumenta substancialmente o valor demonstrado em uma apresentação executiva.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4350" y="4810125"/>
            <a:ext cx="9909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15350" y="4810125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299121"/>
            <a:ext cx="2590800" cy="1432471"/>
          </a:xfrm>
          <a:prstGeom prst="roundRect">
            <a:avLst>
              <a:gd name="adj" fmla="val 102134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76600" y="1299121"/>
            <a:ext cx="2590800" cy="1432471"/>
          </a:xfrm>
          <a:prstGeom prst="roundRect">
            <a:avLst>
              <a:gd name="adj" fmla="val 102134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38850" y="1299121"/>
            <a:ext cx="2590800" cy="1432471"/>
          </a:xfrm>
          <a:prstGeom prst="roundRect">
            <a:avLst>
              <a:gd name="adj" fmla="val 102134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903041"/>
            <a:ext cx="4523780" cy="1232446"/>
          </a:xfrm>
          <a:prstGeom prst="roundRect">
            <a:avLst>
              <a:gd name="adj" fmla="val 11871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85780" y="2903041"/>
            <a:ext cx="3343870" cy="1232446"/>
          </a:xfrm>
          <a:prstGeom prst="roundRect">
            <a:avLst>
              <a:gd name="adj" fmla="val 11871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400050"/>
            <a:ext cx="6975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4350" y="600075"/>
            <a:ext cx="697588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Riscos metodológicos que precisam ser explicitados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505825" y="400050"/>
            <a:ext cx="1263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5325" y="1480096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publicizada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95325" y="1769566"/>
            <a:ext cx="2228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Incidentes não divulgados ficam fora do universo observado, gerando sub-representação estrutural.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57575" y="1480096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Viés de cobertura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3457575" y="1769566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maior repercussão e certas jurisdições tendem a aparecer mais na base.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9825" y="1480096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heterogêneo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6219825" y="1769566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qualidade da inferência depende da densidade semântica do relato e da consistência dos campos.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5325" y="3084016"/>
            <a:ext cx="424506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Limitação estatística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695325" y="3373487"/>
            <a:ext cx="41618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amostra pequena e o desbalanceamento extremo reduzem poder inferencial e estabilidade de métricas.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66755" y="3084016"/>
            <a:ext cx="304155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Limitação de produção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5466755" y="3373487"/>
            <a:ext cx="298192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e Flask atendem bem ao protótipo, mas não representam uma arquitetura final de larga escala.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4350" y="4810125"/>
            <a:ext cx="612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15350" y="4810125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299121"/>
          <a:ext cx="8115300" cy="3038475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</a:tblGrid>
              <a:tr h="506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Frente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Ação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23B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Impacto esperado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Dados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Expandir cobertura temporal, geográfica e número de casos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Mais poder estatístico e menos sensibilidade a outliers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NLP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Evoluir de palavras-chave para embeddings, TF-IDF ou modelos financeiros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Melhor qualidade semântica das features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Revisar targets, balanceamento e estratégia de validação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Métricas mais estáveis e menos risco de ilusão de performance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MLOps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Adicionar containerização, model registry e monitoramento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Maior prontidão para ambiente real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Negócio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Ligar incidentes a casos de uso prioritários de risco e compliance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Melhor narrativa executiva e aplicabilidade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14350" y="400050"/>
            <a:ext cx="7170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14350" y="600075"/>
            <a:ext cx="717019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Próximos passos que aumentariam o valor do projeto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8505825" y="400050"/>
            <a:ext cx="1263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14350" y="4810125"/>
            <a:ext cx="1049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5825" y="4810125"/>
            <a:ext cx="1263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80046"/>
            <a:ext cx="8115300" cy="9525"/>
          </a:xfrm>
          <a:prstGeom prst="rect">
            <a:avLst/>
          </a:prstGeom>
          <a:solidFill>
            <a:srgbClr val="D8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299121"/>
            <a:ext cx="8115300" cy="1627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3117205"/>
            <a:ext cx="2590800" cy="1232446"/>
          </a:xfrm>
          <a:prstGeom prst="roundRect">
            <a:avLst>
              <a:gd name="adj" fmla="val 11871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76600" y="3117205"/>
            <a:ext cx="2590800" cy="1232446"/>
          </a:xfrm>
          <a:prstGeom prst="roundRect">
            <a:avLst>
              <a:gd name="adj" fmla="val 11871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38850" y="3117205"/>
            <a:ext cx="2590800" cy="1232446"/>
          </a:xfrm>
          <a:prstGeom prst="roundRect">
            <a:avLst>
              <a:gd name="adj" fmla="val 118710"/>
            </a:avLst>
          </a:prstGeom>
          <a:solidFill>
            <a:srgbClr val="FFFFFF"/>
          </a:solidFill>
          <a:ln w="9525">
            <a:solidFill>
              <a:srgbClr val="D8D0C4"/>
            </a:solidFill>
          </a:ln>
          <a:effectLst>
            <a:outerShdw sx="100000" sy="100000" kx="0" ky="0" algn="bl" rotWithShape="0" blurRad="266700" dist="95250" dir="5400000">
              <a:srgbClr val="132238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400050"/>
            <a:ext cx="21413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600075"/>
            <a:ext cx="214135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250" b="1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Mensagem final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8515350" y="400050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0100" y="1527721"/>
            <a:ext cx="7600950" cy="1170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sz="1800" dirty="0">
                <a:solidFill>
                  <a:srgbClr val="13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forma mais forte de vender este trabalho é como uma arquitetura analítica aplicada à governança de IA em finanças — não como um modelo preditivo maduro, mas como um sistema bem estruturado que conecta dados, inferência, serviço e tomada de decisão.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5325" y="3298180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Forte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695325" y="3587651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ponta a ponta, coerência metodológica e deployment via API.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57575" y="3298180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Médio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3457575" y="3587651"/>
            <a:ext cx="2228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estatística e framing de risco/g governança.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19825" y="3298180"/>
            <a:ext cx="22734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Fraco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6219825" y="3587651"/>
            <a:ext cx="2228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preditiva atual para uso operacional.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14350" y="4810125"/>
            <a:ext cx="9812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123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message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15350" y="4810125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5E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2026-04-26T22:40:00Z</dcterms:created>
  <dcterms:modified xsi:type="dcterms:W3CDTF">2026-04-26T22:40:00Z</dcterms:modified>
</cp:coreProperties>
</file>