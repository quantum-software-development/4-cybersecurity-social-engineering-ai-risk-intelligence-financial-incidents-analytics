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15146"/>
            <a:ext cx="4038600" cy="1378446"/>
          </a:xfrm>
          <a:prstGeom prst="roundRect">
            <a:avLst>
              <a:gd name="adj" fmla="val 119404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3315146"/>
            <a:ext cx="4038600" cy="1378446"/>
          </a:xfrm>
          <a:prstGeom prst="roundRect">
            <a:avLst>
              <a:gd name="adj" fmla="val 119404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4904" y="450056"/>
            <a:ext cx="8394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0"/>
              </a:lnSpc>
              <a:buNone/>
            </a:pPr>
            <a:r>
              <a:rPr lang="en-US" sz="6000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74904" y="1593056"/>
            <a:ext cx="8394192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40"/>
              </a:lnSpc>
              <a:buNone/>
            </a:pPr>
            <a:r>
              <a:rPr lang="en-US" sz="57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Analysing Report</a:t>
            </a:r>
            <a:endParaRPr lang="en-US" sz="5760" dirty="0"/>
          </a:p>
        </p:txBody>
      </p:sp>
      <p:sp>
        <p:nvSpPr>
          <p:cNvPr id="6" name="Text 4"/>
          <p:cNvSpPr/>
          <p:nvPr/>
        </p:nvSpPr>
        <p:spPr>
          <a:xfrm>
            <a:off x="374904" y="2690217"/>
            <a:ext cx="8394192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 oral completa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634305" y="3477071"/>
            <a:ext cx="3758077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Autores</a:t>
            </a:r>
            <a:endParaRPr lang="en-US" sz="936" dirty="0"/>
          </a:p>
        </p:txBody>
      </p:sp>
      <p:sp>
        <p:nvSpPr>
          <p:cNvPr id="8" name="Text 6"/>
          <p:cNvSpPr/>
          <p:nvPr/>
        </p:nvSpPr>
        <p:spPr>
          <a:xfrm>
            <a:off x="634305" y="3731568"/>
            <a:ext cx="3758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Fabiana Campanari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4305" y="3998268"/>
            <a:ext cx="3758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Pedro Vyctor Almeida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25305" y="3477071"/>
            <a:ext cx="3758077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</a:t>
            </a:r>
            <a:endParaRPr lang="en-US" sz="936" dirty="0"/>
          </a:p>
        </p:txBody>
      </p:sp>
      <p:sp>
        <p:nvSpPr>
          <p:cNvPr id="11" name="Text 9"/>
          <p:cNvSpPr/>
          <p:nvPr/>
        </p:nvSpPr>
        <p:spPr>
          <a:xfrm>
            <a:off x="4825305" y="3731568"/>
            <a:ext cx="3758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Incidents in Financial Services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5305" y="4074468"/>
            <a:ext cx="3684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Viés algorítmico, risco operacional, ML e governança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87736"/>
            <a:ext cx="4038600" cy="2114550"/>
          </a:xfrm>
          <a:prstGeom prst="roundRect">
            <a:avLst>
              <a:gd name="adj" fmla="val 77838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1887736"/>
            <a:ext cx="4038600" cy="2114550"/>
          </a:xfrm>
          <a:prstGeom prst="roundRect">
            <a:avLst>
              <a:gd name="adj" fmla="val 77838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141065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34305" y="2049661"/>
            <a:ext cx="3684389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Introdução e problema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Objetivos e hipóteses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Dados e preparação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Variáveis derivadas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Análise estatística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25305" y="2049661"/>
            <a:ext cx="3684389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Machine Learning completo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Banco, API e dashboard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Arquitetura e notebooks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Resultados, limites e conclusão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8200" y="1477566"/>
            <a:ext cx="4038600" cy="2188071"/>
          </a:xfrm>
          <a:prstGeom prst="roundRect">
            <a:avLst>
              <a:gd name="adj" fmla="val 75222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169640"/>
            <a:ext cx="41193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840111"/>
            <a:ext cx="4038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projeto analisa incidentes reais de IA no setor financeiro em aplicações como credit scoring, fraud detection, algorithmic trading, risk assessment e automação de atendimento.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906911"/>
            <a:ext cx="4038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proposta é transformar uma base pública imperfeita em um pipeline analítico completo com estatística, machine learning, banco relacional, API e dashboard.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25305" y="1639491"/>
            <a:ext cx="3758077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 de pesquisa</a:t>
            </a:r>
            <a:endParaRPr lang="en-US" sz="936" dirty="0"/>
          </a:p>
        </p:txBody>
      </p:sp>
      <p:sp>
        <p:nvSpPr>
          <p:cNvPr id="7" name="Text 5"/>
          <p:cNvSpPr/>
          <p:nvPr/>
        </p:nvSpPr>
        <p:spPr>
          <a:xfrm>
            <a:off x="4825305" y="1932087"/>
            <a:ext cx="3684389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75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Existem padrões sistemáticos de concentração de incidentes, viés por segmento, resposta regulatória insuficiente e sinal preditivo útil para risco?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4243"/>
            <a:ext cx="4038600" cy="2281684"/>
          </a:xfrm>
          <a:prstGeom prst="roundRect">
            <a:avLst>
              <a:gd name="adj" fmla="val 72136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1804243"/>
            <a:ext cx="4038600" cy="2281684"/>
          </a:xfrm>
          <a:prstGeom prst="roundRect">
            <a:avLst>
              <a:gd name="adj" fmla="val 72136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57573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 e hipóteses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34305" y="1966168"/>
            <a:ext cx="3758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 específicos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305" y="2309068"/>
            <a:ext cx="3684389" cy="1566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 incidentes de IA em finanças.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Estruturar variáveis derivadas analíticas.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Testar hipóteses H1-H4.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modelos para severidade e investigação.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Integrar tudo em arquitetura aplicada.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25305" y="1966168"/>
            <a:ext cx="3758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305" y="2309068"/>
            <a:ext cx="3684389" cy="10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H1: concentração por tipo de aplicação.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H2: viés afeta segmentos de forma desigual.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H3: incidentes graves geram mais investigação.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H4: há tendência temporal no volume de casos.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36688"/>
            <a:ext cx="2641550" cy="2216646"/>
          </a:xfrm>
          <a:prstGeom prst="roundRect">
            <a:avLst>
              <a:gd name="adj" fmla="val 74253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51150" y="1836688"/>
            <a:ext cx="2641550" cy="2216646"/>
          </a:xfrm>
          <a:prstGeom prst="roundRect">
            <a:avLst>
              <a:gd name="adj" fmla="val 74253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836688"/>
            <a:ext cx="2641699" cy="2216646"/>
          </a:xfrm>
          <a:prstGeom prst="roundRect">
            <a:avLst>
              <a:gd name="adj" fmla="val 74253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090017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 e recorte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34305" y="1998613"/>
            <a:ext cx="233308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 principal</a:t>
            </a:r>
            <a:endParaRPr lang="en-US" sz="936" dirty="0"/>
          </a:p>
        </p:txBody>
      </p:sp>
      <p:sp>
        <p:nvSpPr>
          <p:cNvPr id="7" name="Text 5"/>
          <p:cNvSpPr/>
          <p:nvPr/>
        </p:nvSpPr>
        <p:spPr>
          <a:xfrm>
            <a:off x="634305" y="2253109"/>
            <a:ext cx="228733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Incident Database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4305" y="2977009"/>
            <a:ext cx="2287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pública de incidentes reais de IA com acesso oficial e alternativa via Kaggle.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8256" y="1998613"/>
            <a:ext cx="233308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Recorte temático</a:t>
            </a:r>
            <a:endParaRPr lang="en-US" sz="936" dirty="0"/>
          </a:p>
        </p:txBody>
      </p:sp>
      <p:sp>
        <p:nvSpPr>
          <p:cNvPr id="10" name="Text 8"/>
          <p:cNvSpPr/>
          <p:nvPr/>
        </p:nvSpPr>
        <p:spPr>
          <a:xfrm>
            <a:off x="3428256" y="2253109"/>
            <a:ext cx="228733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Serviços financeiros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8256" y="2977009"/>
            <a:ext cx="22873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ligados a crédito, fraude, banco, fintech, investimentos, seguros, pagamentos e risco.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22206" y="1998613"/>
            <a:ext cx="2333238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Limitação da fonte</a:t>
            </a:r>
            <a:endParaRPr lang="en-US" sz="936" dirty="0"/>
          </a:p>
        </p:txBody>
      </p:sp>
      <p:sp>
        <p:nvSpPr>
          <p:cNvPr id="13" name="Text 11"/>
          <p:cNvSpPr/>
          <p:nvPr/>
        </p:nvSpPr>
        <p:spPr>
          <a:xfrm>
            <a:off x="6222206" y="2253109"/>
            <a:ext cx="228748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Incidentes publicizados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22206" y="2977009"/>
            <a:ext cx="2287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Há viés geográfico, heterogeneidade textual e informação incompleta sobre perdas.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68128"/>
            <a:ext cx="1943100" cy="1553766"/>
          </a:xfrm>
          <a:prstGeom prst="roundRect">
            <a:avLst>
              <a:gd name="adj" fmla="val 105931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52700" y="2168128"/>
            <a:ext cx="1943100" cy="1553766"/>
          </a:xfrm>
          <a:prstGeom prst="roundRect">
            <a:avLst>
              <a:gd name="adj" fmla="val 105931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48200" y="2168128"/>
            <a:ext cx="1943100" cy="1553766"/>
          </a:xfrm>
          <a:prstGeom prst="roundRect">
            <a:avLst>
              <a:gd name="adj" fmla="val 105931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43700" y="2168128"/>
            <a:ext cx="1943100" cy="1553766"/>
          </a:xfrm>
          <a:prstGeom prst="roundRect">
            <a:avLst>
              <a:gd name="adj" fmla="val 105931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421457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analítica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18417" y="2330053"/>
            <a:ext cx="1620667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2640" dirty="0"/>
          </a:p>
        </p:txBody>
      </p:sp>
      <p:sp>
        <p:nvSpPr>
          <p:cNvPr id="8" name="Text 6"/>
          <p:cNvSpPr/>
          <p:nvPr/>
        </p:nvSpPr>
        <p:spPr>
          <a:xfrm>
            <a:off x="618417" y="2741563"/>
            <a:ext cx="1620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305" y="3046363"/>
            <a:ext cx="1588889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Subconjunto financeiro</a:t>
            </a:r>
            <a:endParaRPr lang="en-US" sz="936" dirty="0"/>
          </a:p>
        </p:txBody>
      </p:sp>
      <p:sp>
        <p:nvSpPr>
          <p:cNvPr id="10" name="Text 8"/>
          <p:cNvSpPr/>
          <p:nvPr/>
        </p:nvSpPr>
        <p:spPr>
          <a:xfrm>
            <a:off x="2729805" y="2330053"/>
            <a:ext cx="1588889" cy="67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2003–2023</a:t>
            </a:r>
            <a:endParaRPr lang="en-US" sz="2640" dirty="0"/>
          </a:p>
        </p:txBody>
      </p:sp>
      <p:sp>
        <p:nvSpPr>
          <p:cNvPr id="11" name="Text 9"/>
          <p:cNvSpPr/>
          <p:nvPr/>
        </p:nvSpPr>
        <p:spPr>
          <a:xfrm>
            <a:off x="2713917" y="3076873"/>
            <a:ext cx="1620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Período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13917" y="3381673"/>
            <a:ext cx="1620667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Série analisada</a:t>
            </a:r>
            <a:endParaRPr lang="en-US" sz="936" dirty="0"/>
          </a:p>
        </p:txBody>
      </p:sp>
      <p:sp>
        <p:nvSpPr>
          <p:cNvPr id="13" name="Text 11"/>
          <p:cNvSpPr/>
          <p:nvPr/>
        </p:nvSpPr>
        <p:spPr>
          <a:xfrm>
            <a:off x="4809417" y="2330053"/>
            <a:ext cx="1620667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2640" dirty="0"/>
          </a:p>
        </p:txBody>
      </p:sp>
      <p:sp>
        <p:nvSpPr>
          <p:cNvPr id="14" name="Text 12"/>
          <p:cNvSpPr/>
          <p:nvPr/>
        </p:nvSpPr>
        <p:spPr>
          <a:xfrm>
            <a:off x="4809417" y="2741563"/>
            <a:ext cx="1620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iniciais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9417" y="3046363"/>
            <a:ext cx="1620667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do encoding</a:t>
            </a:r>
            <a:endParaRPr lang="en-US" sz="936" dirty="0"/>
          </a:p>
        </p:txBody>
      </p:sp>
      <p:sp>
        <p:nvSpPr>
          <p:cNvPr id="16" name="Text 14"/>
          <p:cNvSpPr/>
          <p:nvPr/>
        </p:nvSpPr>
        <p:spPr>
          <a:xfrm>
            <a:off x="6904917" y="2330053"/>
            <a:ext cx="1620667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2640" dirty="0"/>
          </a:p>
        </p:txBody>
      </p:sp>
      <p:sp>
        <p:nvSpPr>
          <p:cNvPr id="17" name="Text 15"/>
          <p:cNvSpPr/>
          <p:nvPr/>
        </p:nvSpPr>
        <p:spPr>
          <a:xfrm>
            <a:off x="6904917" y="2741563"/>
            <a:ext cx="1620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finais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20805" y="3046363"/>
            <a:ext cx="1588889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Após One-Hot Encoding</a:t>
            </a:r>
            <a:endParaRPr lang="en-US" sz="93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61393"/>
            <a:ext cx="4038600" cy="2167384"/>
          </a:xfrm>
          <a:prstGeom prst="roundRect">
            <a:avLst>
              <a:gd name="adj" fmla="val 75940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1861393"/>
            <a:ext cx="4038600" cy="2167384"/>
          </a:xfrm>
          <a:prstGeom prst="roundRect">
            <a:avLst>
              <a:gd name="adj" fmla="val 75940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114723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Preparação dos dados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34305" y="2071985"/>
            <a:ext cx="3684389" cy="17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Padronização de colunas.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Conversão de datas e extração de year.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Consolidação de title e summary em campo textual único.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Remoção de duplicidades e tratamento de ausentes.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25305" y="2071985"/>
            <a:ext cx="3684389" cy="17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Filtragem temática para finanças.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Criação de categorias e flags de governança.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do CSV tratado e banco SQLite.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tratada adotada como fonte reprodutível para estatística e ML.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97261"/>
            <a:ext cx="1943100" cy="971550"/>
          </a:xfrm>
          <a:prstGeom prst="roundRect">
            <a:avLst>
              <a:gd name="adj" fmla="val 169412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52700" y="1897261"/>
            <a:ext cx="1943100" cy="971550"/>
          </a:xfrm>
          <a:prstGeom prst="roundRect">
            <a:avLst>
              <a:gd name="adj" fmla="val 169412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48200" y="1897261"/>
            <a:ext cx="1943100" cy="971550"/>
          </a:xfrm>
          <a:prstGeom prst="roundRect">
            <a:avLst>
              <a:gd name="adj" fmla="val 169412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43700" y="1897261"/>
            <a:ext cx="1943100" cy="971550"/>
          </a:xfrm>
          <a:prstGeom prst="roundRect">
            <a:avLst>
              <a:gd name="adj" fmla="val 169412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3021211"/>
            <a:ext cx="1943100" cy="971550"/>
          </a:xfrm>
          <a:prstGeom prst="roundRect">
            <a:avLst>
              <a:gd name="adj" fmla="val 169412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52700" y="3021211"/>
            <a:ext cx="1943100" cy="971550"/>
          </a:xfrm>
          <a:prstGeom prst="roundRect">
            <a:avLst>
              <a:gd name="adj" fmla="val 169412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8200" y="3021211"/>
            <a:ext cx="1943100" cy="971550"/>
          </a:xfrm>
          <a:prstGeom prst="roundRect">
            <a:avLst>
              <a:gd name="adj" fmla="val 169412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43700" y="3021211"/>
            <a:ext cx="1943100" cy="971550"/>
          </a:xfrm>
          <a:prstGeom prst="roundRect">
            <a:avLst>
              <a:gd name="adj" fmla="val 169412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1150590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Variáveis derivadas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34305" y="2059186"/>
            <a:ext cx="16206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application_type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4305" y="2325886"/>
            <a:ext cx="15888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 o tipo de aplicação financeira.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29805" y="2059186"/>
            <a:ext cx="16206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incident_type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29805" y="2325886"/>
            <a:ext cx="15888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 a natureza do incidente.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25305" y="2059186"/>
            <a:ext cx="16206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customer_segment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25305" y="2325886"/>
            <a:ext cx="15888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 o grupo de clientes afetado.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20805" y="2059186"/>
            <a:ext cx="16206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severity_level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20805" y="2325886"/>
            <a:ext cx="15888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 a gravidade do evento.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4305" y="3183136"/>
            <a:ext cx="16206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regulatory_investigation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4305" y="3449836"/>
            <a:ext cx="15888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binária de investigação formal.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29805" y="3183136"/>
            <a:ext cx="16206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fine_imposed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29805" y="3449836"/>
            <a:ext cx="16206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de multa ou sanção.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25305" y="3183136"/>
            <a:ext cx="16206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policy_change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25305" y="3449836"/>
            <a:ext cx="15888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de mudança de política.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20805" y="3183136"/>
            <a:ext cx="16206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third_party_audit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20805" y="3449836"/>
            <a:ext cx="15888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de auditoria independente.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92486"/>
            <a:ext cx="4038600" cy="2305050"/>
          </a:xfrm>
          <a:prstGeom prst="roundRect">
            <a:avLst>
              <a:gd name="adj" fmla="val 71405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1792486"/>
            <a:ext cx="4038600" cy="2305050"/>
          </a:xfrm>
          <a:prstGeom prst="roundRect">
            <a:avLst>
              <a:gd name="adj" fmla="val 71405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45815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Inferência semântica por regras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34305" y="1954411"/>
            <a:ext cx="3758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funciona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305" y="2297311"/>
            <a:ext cx="36843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criação das variáveis foi baseada em listas de palavras-chave e radicais textuais, com regras determinísticas do tipo if/elif sobre o campo textual consolidado.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4305" y="3478411"/>
            <a:ext cx="3684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foram usados embeddings ou TF-IDF na versão atual.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305" y="1954411"/>
            <a:ext cx="3758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25305" y="2297311"/>
            <a:ext cx="3684389" cy="10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creditscoring: credit scor, loan, mortgage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frauddetection: fraud, aml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algorithmicbias: bias, unfair, discriminat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severity: bankrupt, shutdown, billions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9186"/>
            <a:ext cx="2641550" cy="1771650"/>
          </a:xfrm>
          <a:prstGeom prst="roundRect">
            <a:avLst>
              <a:gd name="adj" fmla="val 92903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51150" y="2059186"/>
            <a:ext cx="2641550" cy="1771650"/>
          </a:xfrm>
          <a:prstGeom prst="roundRect">
            <a:avLst>
              <a:gd name="adj" fmla="val 92903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2059186"/>
            <a:ext cx="2641699" cy="1771650"/>
          </a:xfrm>
          <a:prstGeom prst="roundRect">
            <a:avLst>
              <a:gd name="adj" fmla="val 92903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312515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CRISP-DM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34305" y="2221111"/>
            <a:ext cx="22873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+ Data Understanding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305" y="2754511"/>
            <a:ext cx="22873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 do problema, escopo financeiro, leitura da fonte e entendimento do potencial analítico.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8256" y="2221111"/>
            <a:ext cx="2333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Preparation + Evaluation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8256" y="2525911"/>
            <a:ext cx="22873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Limpeza e engenharia de atributos no Notebook 1; estatística, hipóteses e interpretação no Notebook 2.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22206" y="2221111"/>
            <a:ext cx="2333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Modeling + Deployment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22206" y="2525911"/>
            <a:ext cx="2287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 3 com ML; Notebook 4 com Flask; consumo posterior em dashboard e arquitetura de serving.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99952"/>
            <a:ext cx="4038600" cy="1890117"/>
          </a:xfrm>
          <a:prstGeom prst="roundRect">
            <a:avLst>
              <a:gd name="adj" fmla="val 87080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1999952"/>
            <a:ext cx="4038600" cy="1890117"/>
          </a:xfrm>
          <a:prstGeom prst="roundRect">
            <a:avLst>
              <a:gd name="adj" fmla="val 87080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253282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estatística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34305" y="2210544"/>
            <a:ext cx="3684389" cy="1468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H1: qui-quadrado de aderência para concentração por aplicação.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H2: qui-quadrado de independência para viés por segmento.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H3: associação entre severidade e investigação, com apoio de regressão logística.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25305" y="2210544"/>
            <a:ext cx="3684389" cy="1468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H4: tendência temporal por correlação e análise de tendência.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Leitura crítica dos achados, com foco em distribuição, assimetria e governança.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Função principal: estruturar evidência empírica do trabalho.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22438"/>
            <a:ext cx="2641550" cy="1645146"/>
          </a:xfrm>
          <a:prstGeom prst="roundRect">
            <a:avLst>
              <a:gd name="adj" fmla="val 100047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51150" y="2122438"/>
            <a:ext cx="2641550" cy="1645146"/>
          </a:xfrm>
          <a:prstGeom prst="roundRect">
            <a:avLst>
              <a:gd name="adj" fmla="val 100047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2122438"/>
            <a:ext cx="2641699" cy="1645146"/>
          </a:xfrm>
          <a:prstGeom prst="roundRect">
            <a:avLst>
              <a:gd name="adj" fmla="val 100047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375767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Learning: visão geral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34305" y="2284363"/>
            <a:ext cx="233308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Tarefa 1</a:t>
            </a:r>
            <a:endParaRPr lang="en-US" sz="936" dirty="0"/>
          </a:p>
        </p:txBody>
      </p:sp>
      <p:sp>
        <p:nvSpPr>
          <p:cNvPr id="7" name="Text 5"/>
          <p:cNvSpPr/>
          <p:nvPr/>
        </p:nvSpPr>
        <p:spPr>
          <a:xfrm>
            <a:off x="634305" y="2538859"/>
            <a:ext cx="22873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Classificação de severidade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4305" y="3148459"/>
            <a:ext cx="22873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binário e versão multiclasse.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8256" y="2284363"/>
            <a:ext cx="233308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Tarefa 2</a:t>
            </a:r>
            <a:endParaRPr lang="en-US" sz="936" dirty="0"/>
          </a:p>
        </p:txBody>
      </p:sp>
      <p:sp>
        <p:nvSpPr>
          <p:cNvPr id="10" name="Text 8"/>
          <p:cNvSpPr/>
          <p:nvPr/>
        </p:nvSpPr>
        <p:spPr>
          <a:xfrm>
            <a:off x="3428256" y="2538859"/>
            <a:ext cx="22873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Predição de investigação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8256" y="3148459"/>
            <a:ext cx="22873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de estimar resposta regulatória.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22206" y="2284363"/>
            <a:ext cx="2333238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Condição dos dados</a:t>
            </a:r>
            <a:endParaRPr lang="en-US" sz="936" dirty="0"/>
          </a:p>
        </p:txBody>
      </p:sp>
      <p:sp>
        <p:nvSpPr>
          <p:cNvPr id="13" name="Text 11"/>
          <p:cNvSpPr/>
          <p:nvPr/>
        </p:nvSpPr>
        <p:spPr>
          <a:xfrm>
            <a:off x="6222206" y="2538859"/>
            <a:ext cx="22874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extremamente desbalanceado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22206" y="3148459"/>
            <a:ext cx="2287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Principal limitação metodológica do Notebook 3.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02569"/>
            <a:ext cx="4038600" cy="2884884"/>
          </a:xfrm>
          <a:prstGeom prst="roundRect">
            <a:avLst>
              <a:gd name="adj" fmla="val 57053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1502569"/>
            <a:ext cx="4038600" cy="2884884"/>
          </a:xfrm>
          <a:prstGeom prst="roundRect">
            <a:avLst>
              <a:gd name="adj" fmla="val 57053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755898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ML: features e targets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34305" y="1664494"/>
            <a:ext cx="3758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usadas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305" y="2007394"/>
            <a:ext cx="3684389" cy="2169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application_type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incident_type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customer_segment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regulatory_investigation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fine_imposed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policy_change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third_party_audit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25305" y="1664494"/>
            <a:ext cx="3758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305" y="2007394"/>
            <a:ext cx="3684389" cy="12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severity_binary: 0 = low/medium; 1 = high/critical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severity_multiclass: low, medium, high, critical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investigation target: 0 ou 1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One-Hot Encoding gerou 14 features finais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22834"/>
            <a:ext cx="2641550" cy="1218456"/>
          </a:xfrm>
          <a:prstGeom prst="roundRect">
            <a:avLst>
              <a:gd name="adj" fmla="val 135082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51150" y="1722834"/>
            <a:ext cx="2641550" cy="1218456"/>
          </a:xfrm>
          <a:prstGeom prst="roundRect">
            <a:avLst>
              <a:gd name="adj" fmla="val 135082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722834"/>
            <a:ext cx="2641699" cy="1218456"/>
          </a:xfrm>
          <a:prstGeom prst="roundRect">
            <a:avLst>
              <a:gd name="adj" fmla="val 135082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093690"/>
            <a:ext cx="2641550" cy="1073646"/>
          </a:xfrm>
          <a:prstGeom prst="roundRect">
            <a:avLst>
              <a:gd name="adj" fmla="val 153302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51150" y="3093690"/>
            <a:ext cx="2641550" cy="1073646"/>
          </a:xfrm>
          <a:prstGeom prst="roundRect">
            <a:avLst>
              <a:gd name="adj" fmla="val 153302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45101" y="3093690"/>
            <a:ext cx="2641699" cy="1073646"/>
          </a:xfrm>
          <a:prstGeom prst="roundRect">
            <a:avLst>
              <a:gd name="adj" fmla="val 153302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976164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ML: distribuição dos alvos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11432" y="1884759"/>
            <a:ext cx="2333086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2640" dirty="0"/>
          </a:p>
        </p:txBody>
      </p:sp>
      <p:sp>
        <p:nvSpPr>
          <p:cNvPr id="10" name="Text 8"/>
          <p:cNvSpPr/>
          <p:nvPr/>
        </p:nvSpPr>
        <p:spPr>
          <a:xfrm>
            <a:off x="611432" y="2296269"/>
            <a:ext cx="2333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 low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1432" y="2601069"/>
            <a:ext cx="233308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majoritária</a:t>
            </a:r>
            <a:endParaRPr lang="en-US" sz="936" dirty="0"/>
          </a:p>
        </p:txBody>
      </p:sp>
      <p:sp>
        <p:nvSpPr>
          <p:cNvPr id="12" name="Text 10"/>
          <p:cNvSpPr/>
          <p:nvPr/>
        </p:nvSpPr>
        <p:spPr>
          <a:xfrm>
            <a:off x="3405382" y="1884759"/>
            <a:ext cx="2333086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+ 1 + 1</a:t>
            </a:r>
            <a:endParaRPr lang="en-US" sz="2640" dirty="0"/>
          </a:p>
        </p:txBody>
      </p:sp>
      <p:sp>
        <p:nvSpPr>
          <p:cNvPr id="13" name="Text 11"/>
          <p:cNvSpPr/>
          <p:nvPr/>
        </p:nvSpPr>
        <p:spPr>
          <a:xfrm>
            <a:off x="3405382" y="2296269"/>
            <a:ext cx="2333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/ medium / critical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5382" y="2601069"/>
            <a:ext cx="233308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classes raras</a:t>
            </a:r>
            <a:endParaRPr lang="en-US" sz="936" dirty="0"/>
          </a:p>
        </p:txBody>
      </p:sp>
      <p:sp>
        <p:nvSpPr>
          <p:cNvPr id="15" name="Text 13"/>
          <p:cNvSpPr/>
          <p:nvPr/>
        </p:nvSpPr>
        <p:spPr>
          <a:xfrm>
            <a:off x="6199331" y="1884759"/>
            <a:ext cx="2333238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64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/ 1</a:t>
            </a:r>
            <a:endParaRPr lang="en-US" sz="2640" dirty="0"/>
          </a:p>
        </p:txBody>
      </p:sp>
      <p:sp>
        <p:nvSpPr>
          <p:cNvPr id="16" name="Text 14"/>
          <p:cNvSpPr/>
          <p:nvPr/>
        </p:nvSpPr>
        <p:spPr>
          <a:xfrm>
            <a:off x="6199331" y="2296269"/>
            <a:ext cx="2333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investigation 0 /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9331" y="2601069"/>
            <a:ext cx="2333238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desequilíbrio extremo</a:t>
            </a:r>
            <a:endParaRPr lang="en-US" sz="936" dirty="0"/>
          </a:p>
        </p:txBody>
      </p:sp>
      <p:sp>
        <p:nvSpPr>
          <p:cNvPr id="18" name="Text 16"/>
          <p:cNvSpPr/>
          <p:nvPr/>
        </p:nvSpPr>
        <p:spPr>
          <a:xfrm>
            <a:off x="634305" y="3255615"/>
            <a:ext cx="233308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 binary</a:t>
            </a:r>
            <a:endParaRPr lang="en-US" sz="936" dirty="0"/>
          </a:p>
        </p:txBody>
      </p:sp>
      <p:sp>
        <p:nvSpPr>
          <p:cNvPr id="19" name="Text 17"/>
          <p:cNvSpPr/>
          <p:nvPr/>
        </p:nvSpPr>
        <p:spPr>
          <a:xfrm>
            <a:off x="634305" y="3510111"/>
            <a:ext cx="2333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 0 = 28 casos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4305" y="3738711"/>
            <a:ext cx="2333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 1 = 3 casos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8256" y="3255615"/>
            <a:ext cx="233308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</a:t>
            </a:r>
            <a:endParaRPr lang="en-US" sz="936" dirty="0"/>
          </a:p>
        </p:txBody>
      </p:sp>
      <p:sp>
        <p:nvSpPr>
          <p:cNvPr id="22" name="Text 20"/>
          <p:cNvSpPr/>
          <p:nvPr/>
        </p:nvSpPr>
        <p:spPr>
          <a:xfrm>
            <a:off x="3428256" y="3510111"/>
            <a:ext cx="2333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= (31, 14)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8256" y="3738711"/>
            <a:ext cx="2333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= (31, 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22206" y="3255615"/>
            <a:ext cx="2333238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Ratio</a:t>
            </a:r>
            <a:endParaRPr lang="en-US" sz="936" dirty="0"/>
          </a:p>
        </p:txBody>
      </p:sp>
      <p:sp>
        <p:nvSpPr>
          <p:cNvPr id="25" name="Text 23"/>
          <p:cNvSpPr/>
          <p:nvPr/>
        </p:nvSpPr>
        <p:spPr>
          <a:xfrm>
            <a:off x="6222206" y="3510111"/>
            <a:ext cx="23332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9,33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22206" y="3776811"/>
            <a:ext cx="2333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desbalanceamento reportado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63911"/>
            <a:ext cx="2641550" cy="1314450"/>
          </a:xfrm>
          <a:prstGeom prst="roundRect">
            <a:avLst>
              <a:gd name="adj" fmla="val 125217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51150" y="1763911"/>
            <a:ext cx="2641550" cy="1314450"/>
          </a:xfrm>
          <a:prstGeom prst="roundRect">
            <a:avLst>
              <a:gd name="adj" fmla="val 125217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763911"/>
            <a:ext cx="2641699" cy="1314450"/>
          </a:xfrm>
          <a:prstGeom prst="roundRect">
            <a:avLst>
              <a:gd name="adj" fmla="val 125217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268861"/>
            <a:ext cx="8229600" cy="857250"/>
          </a:xfrm>
          <a:prstGeom prst="roundRect">
            <a:avLst>
              <a:gd name="adj" fmla="val 192000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017240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ML: algoritmos comparados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34305" y="1925836"/>
            <a:ext cx="2333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305" y="2230636"/>
            <a:ext cx="2287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linear para oferecer referência simples e interpretável.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8256" y="1925836"/>
            <a:ext cx="2333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Classifier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8256" y="2230636"/>
            <a:ext cx="2287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baseado em árvores para captar não linearidades e interações entre variáveis.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22206" y="1925836"/>
            <a:ext cx="2333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Classifier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22206" y="2230636"/>
            <a:ext cx="2287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mais sofisticado da comparação e reportado como melhor dentro do notebook.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305" y="3430786"/>
            <a:ext cx="787538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 seja: o trabalho não usou apenas XGBoost. Ele comparou baseline linear com modelos de árvore, o que fortalece a lógica metodológica da fase de Modeling.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82986"/>
            <a:ext cx="4038600" cy="1924050"/>
          </a:xfrm>
          <a:prstGeom prst="roundRect">
            <a:avLst>
              <a:gd name="adj" fmla="val 85545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1982986"/>
            <a:ext cx="4038600" cy="1924050"/>
          </a:xfrm>
          <a:prstGeom prst="roundRect">
            <a:avLst>
              <a:gd name="adj" fmla="val 85545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236315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ML: técnicas de mitigação consideradas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34305" y="2193578"/>
            <a:ext cx="3684389" cy="14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class_weight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SMOTE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Estratégias de balanceamento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maior no target binário por inviabilidade prática da versão multiclasse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25305" y="2144911"/>
            <a:ext cx="368438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Essas técnicas aparecem como recomendação coerente do próprio notebook diante da distribuição extrema das classes. Isso mostra consciência metodológica, mesmo sem resolver totalmente a limitação estrutural da base.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33240"/>
            <a:ext cx="4038600" cy="2623542"/>
          </a:xfrm>
          <a:prstGeom prst="roundRect">
            <a:avLst>
              <a:gd name="adj" fmla="val 62737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305" y="2138065"/>
            <a:ext cx="1785045" cy="806946"/>
          </a:xfrm>
          <a:prstGeom prst="roundRect">
            <a:avLst>
              <a:gd name="adj" fmla="val 203969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33650" y="2138065"/>
            <a:ext cx="1785045" cy="806946"/>
          </a:xfrm>
          <a:prstGeom prst="roundRect">
            <a:avLst>
              <a:gd name="adj" fmla="val 203969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305" y="3059311"/>
            <a:ext cx="1785045" cy="1035546"/>
          </a:xfrm>
          <a:prstGeom prst="roundRect">
            <a:avLst>
              <a:gd name="adj" fmla="val 158942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33650" y="3059311"/>
            <a:ext cx="1785045" cy="1035546"/>
          </a:xfrm>
          <a:prstGeom prst="roundRect">
            <a:avLst>
              <a:gd name="adj" fmla="val 158942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48200" y="1633240"/>
            <a:ext cx="4038600" cy="2623542"/>
          </a:xfrm>
          <a:prstGeom prst="roundRect">
            <a:avLst>
              <a:gd name="adj" fmla="val 62737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25305" y="2138065"/>
            <a:ext cx="1785045" cy="806946"/>
          </a:xfrm>
          <a:prstGeom prst="roundRect">
            <a:avLst>
              <a:gd name="adj" fmla="val 203969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24650" y="2138065"/>
            <a:ext cx="1785045" cy="806946"/>
          </a:xfrm>
          <a:prstGeom prst="roundRect">
            <a:avLst>
              <a:gd name="adj" fmla="val 203969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25305" y="3059311"/>
            <a:ext cx="1785045" cy="806946"/>
          </a:xfrm>
          <a:prstGeom prst="roundRect">
            <a:avLst>
              <a:gd name="adj" fmla="val 203969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24650" y="3059311"/>
            <a:ext cx="1785045" cy="806946"/>
          </a:xfrm>
          <a:prstGeom prst="roundRect">
            <a:avLst>
              <a:gd name="adj" fmla="val 203969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886569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ML: resultados reportados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34305" y="1795165"/>
            <a:ext cx="3758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Classificador de severidade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1411" y="2299990"/>
            <a:ext cx="1459450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 modelo</a:t>
            </a:r>
            <a:endParaRPr lang="en-US" sz="936" dirty="0"/>
          </a:p>
        </p:txBody>
      </p:sp>
      <p:sp>
        <p:nvSpPr>
          <p:cNvPr id="15" name="Text 13"/>
          <p:cNvSpPr/>
          <p:nvPr/>
        </p:nvSpPr>
        <p:spPr>
          <a:xfrm>
            <a:off x="811411" y="2554486"/>
            <a:ext cx="145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10755" y="2299990"/>
            <a:ext cx="1459450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F1-score</a:t>
            </a:r>
            <a:endParaRPr lang="en-US" sz="936" dirty="0"/>
          </a:p>
        </p:txBody>
      </p:sp>
      <p:sp>
        <p:nvSpPr>
          <p:cNvPr id="17" name="Text 15"/>
          <p:cNvSpPr/>
          <p:nvPr/>
        </p:nvSpPr>
        <p:spPr>
          <a:xfrm>
            <a:off x="2710755" y="2554486"/>
            <a:ext cx="145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1411" y="3221236"/>
            <a:ext cx="1459450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ROC-AUC</a:t>
            </a:r>
            <a:endParaRPr lang="en-US" sz="936" dirty="0"/>
          </a:p>
        </p:txBody>
      </p:sp>
      <p:sp>
        <p:nvSpPr>
          <p:cNvPr id="19" name="Text 17"/>
          <p:cNvSpPr/>
          <p:nvPr/>
        </p:nvSpPr>
        <p:spPr>
          <a:xfrm>
            <a:off x="811411" y="3475732"/>
            <a:ext cx="145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0.0833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10755" y="3221236"/>
            <a:ext cx="1459450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Leitura</a:t>
            </a:r>
            <a:endParaRPr lang="en-US" sz="936" dirty="0"/>
          </a:p>
        </p:txBody>
      </p:sp>
      <p:sp>
        <p:nvSpPr>
          <p:cNvPr id="21" name="Text 19"/>
          <p:cNvSpPr/>
          <p:nvPr/>
        </p:nvSpPr>
        <p:spPr>
          <a:xfrm>
            <a:off x="2710755" y="3475732"/>
            <a:ext cx="1430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Desempenho fraco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5305" y="1795165"/>
            <a:ext cx="3758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Preditor de investigação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02411" y="2299990"/>
            <a:ext cx="1459450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</a:t>
            </a:r>
            <a:endParaRPr lang="en-US" sz="936" dirty="0"/>
          </a:p>
        </p:txBody>
      </p:sp>
      <p:sp>
        <p:nvSpPr>
          <p:cNvPr id="24" name="Text 22"/>
          <p:cNvSpPr/>
          <p:nvPr/>
        </p:nvSpPr>
        <p:spPr>
          <a:xfrm>
            <a:off x="5002411" y="2554486"/>
            <a:ext cx="145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1755" y="2299990"/>
            <a:ext cx="1459450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F1-score</a:t>
            </a:r>
            <a:endParaRPr lang="en-US" sz="936" dirty="0"/>
          </a:p>
        </p:txBody>
      </p:sp>
      <p:sp>
        <p:nvSpPr>
          <p:cNvPr id="26" name="Text 24"/>
          <p:cNvSpPr/>
          <p:nvPr/>
        </p:nvSpPr>
        <p:spPr>
          <a:xfrm>
            <a:off x="6901755" y="2554486"/>
            <a:ext cx="145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0.0000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02411" y="3221236"/>
            <a:ext cx="1459450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ROC-AUC</a:t>
            </a:r>
            <a:endParaRPr lang="en-US" sz="936" dirty="0"/>
          </a:p>
        </p:txBody>
      </p:sp>
      <p:sp>
        <p:nvSpPr>
          <p:cNvPr id="28" name="Text 26"/>
          <p:cNvSpPr/>
          <p:nvPr/>
        </p:nvSpPr>
        <p:spPr>
          <a:xfrm>
            <a:off x="5002411" y="3475732"/>
            <a:ext cx="145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01755" y="3221236"/>
            <a:ext cx="1459450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Leitura</a:t>
            </a:r>
            <a:endParaRPr lang="en-US" sz="936" dirty="0"/>
          </a:p>
        </p:txBody>
      </p:sp>
      <p:sp>
        <p:nvSpPr>
          <p:cNvPr id="30" name="Text 28"/>
          <p:cNvSpPr/>
          <p:nvPr/>
        </p:nvSpPr>
        <p:spPr>
          <a:xfrm>
            <a:off x="6901755" y="3475732"/>
            <a:ext cx="145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robustez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29035"/>
            <a:ext cx="4038600" cy="2184350"/>
          </a:xfrm>
          <a:prstGeom prst="roundRect">
            <a:avLst>
              <a:gd name="adj" fmla="val 75351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1329035"/>
            <a:ext cx="4038600" cy="2184350"/>
          </a:xfrm>
          <a:prstGeom prst="roundRect">
            <a:avLst>
              <a:gd name="adj" fmla="val 75351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703886"/>
            <a:ext cx="8229600" cy="857250"/>
          </a:xfrm>
          <a:prstGeom prst="roundRect">
            <a:avLst>
              <a:gd name="adj" fmla="val 192000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582364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ML: interpretação correta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34305" y="1490960"/>
            <a:ext cx="3758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pode ser afirmado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305" y="1833860"/>
            <a:ext cx="3684389" cy="1468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pipeline de ML foi implementado com sucesso.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Houve encoding, definição de targets, treino, avaliação e serialização.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notebook cumpre a fase de Modeling da CRISP-DM.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305" y="1490960"/>
            <a:ext cx="3758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não pode ser afirmado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25305" y="1833860"/>
            <a:ext cx="3684389" cy="1240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o modelo está pronto para uso decisório real.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houve alto desempenho preditivo.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os endpoints preditivos são confiáveis operacionalmente.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305" y="3865811"/>
            <a:ext cx="787538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apresentação oral deve tratar o ML como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prova de conceito metodológica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integração arquitetural, não como produto preditivo maduro.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42802"/>
            <a:ext cx="4038600" cy="2004417"/>
          </a:xfrm>
          <a:prstGeom prst="roundRect">
            <a:avLst>
              <a:gd name="adj" fmla="val 82115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1942802"/>
            <a:ext cx="4038600" cy="2004417"/>
          </a:xfrm>
          <a:prstGeom prst="roundRect">
            <a:avLst>
              <a:gd name="adj" fmla="val 82115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196132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de dados e API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34305" y="2104727"/>
            <a:ext cx="3758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+ artefatos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305" y="2447627"/>
            <a:ext cx="3684389" cy="10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incidentes persistidos no banco.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Carregamento de severity_classifier.pkl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Carregamento de investigation_classifier.pkl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Carregamento das listas de features esperadas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25305" y="2104727"/>
            <a:ext cx="3758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305" y="2447627"/>
            <a:ext cx="3684389" cy="12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/api/incidents e /api/incidents/{id}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/api/stats/by-application, by-segment, temporal, governance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/api/predict/severity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/api/predict/investigation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73486"/>
            <a:ext cx="2641550" cy="1543050"/>
          </a:xfrm>
          <a:prstGeom prst="roundRect">
            <a:avLst>
              <a:gd name="adj" fmla="val 106667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51150" y="2173486"/>
            <a:ext cx="2641550" cy="1543050"/>
          </a:xfrm>
          <a:prstGeom prst="roundRect">
            <a:avLst>
              <a:gd name="adj" fmla="val 106667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2173486"/>
            <a:ext cx="2641699" cy="1543050"/>
          </a:xfrm>
          <a:prstGeom prst="roundRect">
            <a:avLst>
              <a:gd name="adj" fmla="val 106667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426815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interativo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34305" y="2335411"/>
            <a:ext cx="2333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305" y="2640211"/>
            <a:ext cx="22873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Permitir exploração visual dos incidentes, estatísticas e funcionalidades preditivas por usuários não técnicos.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8256" y="2335411"/>
            <a:ext cx="2333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8256" y="2640211"/>
            <a:ext cx="22873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geral, distribuição por aplicação, segmento, governança, formulários de predição e análise estatística.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22206" y="2335411"/>
            <a:ext cx="2333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Melhorias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22206" y="2640211"/>
            <a:ext cx="2287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Autenticação, paginação, logging, versionamento, cache, validação e monitoramento.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1343"/>
            <a:ext cx="4038600" cy="2967484"/>
          </a:xfrm>
          <a:prstGeom prst="roundRect">
            <a:avLst>
              <a:gd name="adj" fmla="val 55465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1461343"/>
            <a:ext cx="4038600" cy="2967484"/>
          </a:xfrm>
          <a:prstGeom prst="roundRect">
            <a:avLst>
              <a:gd name="adj" fmla="val 55465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714673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do projeto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825305" y="1623268"/>
            <a:ext cx="3758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Leitura do fluxo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25305" y="1966168"/>
            <a:ext cx="3684389" cy="22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AIID / Kaggle alimenta a preparação do NB1.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CSV Clean saem a trilha estatística no NB2 e a trilha de ML no NB3.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armazena dados tratados; Models .pkl sustentam os endpoints da API Flask.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Dashboard Streamlit consome a API e fecha a camada de apresentação.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desenho reforça separação entre dados, modelos, serving e visualização.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9186"/>
            <a:ext cx="1943100" cy="1771650"/>
          </a:xfrm>
          <a:prstGeom prst="roundRect">
            <a:avLst>
              <a:gd name="adj" fmla="val 92903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52700" y="2059186"/>
            <a:ext cx="1943100" cy="1771650"/>
          </a:xfrm>
          <a:prstGeom prst="roundRect">
            <a:avLst>
              <a:gd name="adj" fmla="val 92903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48200" y="2059186"/>
            <a:ext cx="1943100" cy="1771650"/>
          </a:xfrm>
          <a:prstGeom prst="roundRect">
            <a:avLst>
              <a:gd name="adj" fmla="val 92903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43700" y="2059186"/>
            <a:ext cx="1943100" cy="1771650"/>
          </a:xfrm>
          <a:prstGeom prst="roundRect">
            <a:avLst>
              <a:gd name="adj" fmla="val 92903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312515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dos notebooks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34305" y="2221111"/>
            <a:ext cx="1620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305" y="2525911"/>
            <a:ext cx="158888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Exploração, preparação, filtragem, variáveis derivadas, CSV e SQLite.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29805" y="2221111"/>
            <a:ext cx="1620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29805" y="2525911"/>
            <a:ext cx="15888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Estatística descritiva, testes H1-H4 e interpretação.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5305" y="2221111"/>
            <a:ext cx="1620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 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5305" y="2525911"/>
            <a:ext cx="15888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Features, targets, treino, avaliação e serialização dos modelos.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20805" y="2221111"/>
            <a:ext cx="1620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 4/5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20805" y="2525911"/>
            <a:ext cx="15888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RESTful, deploy e consolidação do pipeline.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04243"/>
            <a:ext cx="4038600" cy="2281684"/>
          </a:xfrm>
          <a:prstGeom prst="roundRect">
            <a:avLst>
              <a:gd name="adj" fmla="val 72136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1804243"/>
            <a:ext cx="4038600" cy="2281684"/>
          </a:xfrm>
          <a:prstGeom prst="roundRect">
            <a:avLst>
              <a:gd name="adj" fmla="val 72136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57573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consolidados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34305" y="1966168"/>
            <a:ext cx="3758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Entregas sólidas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305" y="2309068"/>
            <a:ext cx="3684389" cy="1566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temática de incidentes de IA em finanças.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Variáveis derivadas úteis para risco e governança.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Camada estatística coerente.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completo de ML e integração.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e base para dashboard.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25305" y="1966168"/>
            <a:ext cx="3758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Síntese interpretativa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305" y="2309068"/>
            <a:ext cx="368438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principal força do projeto está na arquitetura analítica ponta a ponta, e não em um classificador altamente preciso.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73486"/>
            <a:ext cx="2641550" cy="1543050"/>
          </a:xfrm>
          <a:prstGeom prst="roundRect">
            <a:avLst>
              <a:gd name="adj" fmla="val 106667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51150" y="2173486"/>
            <a:ext cx="2641550" cy="1543050"/>
          </a:xfrm>
          <a:prstGeom prst="roundRect">
            <a:avLst>
              <a:gd name="adj" fmla="val 106667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2173486"/>
            <a:ext cx="2641699" cy="1543050"/>
          </a:xfrm>
          <a:prstGeom prst="roundRect">
            <a:avLst>
              <a:gd name="adj" fmla="val 106667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426815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Limitações metodológicas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34305" y="2335411"/>
            <a:ext cx="2333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305" y="2640211"/>
            <a:ext cx="2287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reduzida, incidentes publicizados, viés geográfico e qualidade textual heterogênea.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8256" y="2335411"/>
            <a:ext cx="2333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Estatística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8256" y="2640211"/>
            <a:ext cx="22873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Baixo poder estatístico, sensibilidade a poucos casos e fragilidade em subgrupos pequenos.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22206" y="2335411"/>
            <a:ext cx="2333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/ Deployment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22206" y="2640211"/>
            <a:ext cx="2287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Classes raras, risco de overfitting, endpoints preditivos dependentes de modelos ainda frágeis.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33326"/>
            <a:ext cx="4038600" cy="1657350"/>
          </a:xfrm>
          <a:prstGeom prst="roundRect">
            <a:avLst>
              <a:gd name="adj" fmla="val 99310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1133326"/>
            <a:ext cx="4038600" cy="1657350"/>
          </a:xfrm>
          <a:prstGeom prst="roundRect">
            <a:avLst>
              <a:gd name="adj" fmla="val 99310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2981176"/>
            <a:ext cx="8229600" cy="1775817"/>
          </a:xfrm>
          <a:prstGeom prst="roundRect">
            <a:avLst>
              <a:gd name="adj" fmla="val 92685"/>
            </a:avLst>
          </a:prstGeom>
          <a:solidFill>
            <a:srgbClr val="101722">
              <a:alpha val="78000"/>
            </a:srgbClr>
          </a:solidFill>
          <a:ln w="9525">
            <a:solidFill>
              <a:srgbClr val="66E6DA"/>
            </a:solidFill>
          </a:ln>
          <a:effectLst>
            <a:outerShdw sx="100000" sy="100000" kx="0" ky="0" algn="bl" rotWithShape="0" blurRad="457200" dist="152400" dir="5400000">
              <a:srgbClr val="000000">
                <a:alpha val="22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86655"/>
            <a:ext cx="839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34305" y="1295251"/>
            <a:ext cx="3684389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projeto demonstra como um dataset público e imperfeito pode ser transformado em uma base analítica integrada para governança, compliance e gestão de risco em IA financeira.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25305" y="1295251"/>
            <a:ext cx="36843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formulação correta é: valor alto na arquitetura analítica e no raciocínio metodológico; valor limitado, por enquanto, na predição operacional.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4305" y="3143101"/>
            <a:ext cx="80328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305" y="3486001"/>
            <a:ext cx="7875389" cy="10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Aumentar a base de incidentes.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Refinar rotulagem e NLP.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Melhorar balanceamento e validação.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Evoluir API, observabilidade e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904" y="1108770"/>
            <a:ext cx="8394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0"/>
              </a:lnSpc>
              <a:buNone/>
            </a:pPr>
            <a:r>
              <a:rPr lang="en-US" sz="6000" dirty="0">
                <a:solidFill>
                  <a:srgbClr val="66E6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🎓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374904" y="2251770"/>
            <a:ext cx="8394192" cy="982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740"/>
              </a:lnSpc>
              <a:buNone/>
            </a:pPr>
            <a:r>
              <a:rPr lang="en-US" sz="516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Obrigada</a:t>
            </a:r>
            <a:endParaRPr lang="en-US" sz="5160" dirty="0"/>
          </a:p>
        </p:txBody>
      </p:sp>
      <p:sp>
        <p:nvSpPr>
          <p:cNvPr id="4" name="Text 2"/>
          <p:cNvSpPr/>
          <p:nvPr/>
        </p:nvSpPr>
        <p:spPr>
          <a:xfrm>
            <a:off x="457200" y="3234630"/>
            <a:ext cx="8229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 versão agora cobre o conteúdo completo do Data Analysing Report, inclusive a comparação entre Logistic Regression, Random Forest e XGBoost, além da leitura crítica correta do desempenho do ML.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2026-04-26T22:27:41Z</dcterms:created>
  <dcterms:modified xsi:type="dcterms:W3CDTF">2026-04-26T22:27:41Z</dcterms:modified>
</cp:coreProperties>
</file>